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B — Verified. Emerald on white, light-first.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brand is a functional requirement,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about the etymology is the strategy, not a flourish.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renders in Arial. The real wordmark is Space Grotesk Medium — bold here is a stand-in.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pure black. Never cream — it goes dingy on cheap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is semantic. If it is not carrying meaning, it is ink or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Discipline in colour is what makes the signals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renders in Arial. Brand fonts: Space Grotesk + JetBrains Mono. If legibility suffers at small sizes, keep Space Grotesk for wordmark/headings and drop to Inter for dense body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Decimals stack. This is a ledger, not a blog.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Badges, stamp, citation, the working, the refusal, the options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parts, in order: what we cannot do, why, what we are doing, what you should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always specific. Every claim carries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public commitments. Customers can hold us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ship alongside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057400"/>
            <a:ext cx="304038" cy="1600200"/>
          </a:xfrm>
          <a:prstGeom prst="roundRect">
            <a:avLst>
              <a:gd name="adj" fmla="val 6015"/>
            </a:avLst>
          </a:prstGeom>
          <a:solidFill>
            <a:srgbClr val="00A37A"/>
          </a:solidFill>
          <a:ln/>
        </p:spPr>
      </p:sp>
      <p:sp>
        <p:nvSpPr>
          <p:cNvPr id="3" name="Shape 1"/>
          <p:cNvSpPr/>
          <p:nvPr/>
        </p:nvSpPr>
        <p:spPr>
          <a:xfrm>
            <a:off x="1353312" y="2057400"/>
            <a:ext cx="304038" cy="1600200"/>
          </a:xfrm>
          <a:prstGeom prst="roundRect">
            <a:avLst>
              <a:gd name="adj" fmla="val 6015"/>
            </a:avLst>
          </a:prstGeom>
          <a:solidFill>
            <a:srgbClr val="00A37A"/>
          </a:solidFill>
          <a:ln/>
        </p:spPr>
      </p:sp>
      <p:sp>
        <p:nvSpPr>
          <p:cNvPr id="4" name="Text 2"/>
          <p:cNvSpPr/>
          <p:nvPr/>
        </p:nvSpPr>
        <p:spPr>
          <a:xfrm>
            <a:off x="193167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Selah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4672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B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— and know where you stand.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04672" y="4709160"/>
            <a:ext cx="2011680" cy="0"/>
          </a:xfrm>
          <a:prstGeom prst="line">
            <a:avLst/>
          </a:prstGeom>
          <a:noFill/>
          <a:ln w="12700">
            <a:solidFill>
              <a:srgbClr val="3D4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   ·   v2   ·   11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selling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Trustworthiness.</a:t>
            </a:r>
            <a:pPr indent="0" marL="0">
              <a:buNone/>
            </a:pPr>
            <a:r>
              <a:rPr lang="en-US" sz="4000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Not tax software.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 a Ugandan business to believe our number over URA’s own website, over PwC’s published guidance, and over their accountant of fifteen years.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6309360" cy="1691640"/>
          </a:xfrm>
          <a:prstGeom prst="roundRect">
            <a:avLst>
              <a:gd name="adj" fmla="val 3243"/>
            </a:avLst>
          </a:prstGeom>
          <a:solidFill>
            <a:srgbClr val="ECFAF5"/>
          </a:solidFill>
          <a:ln w="12700">
            <a:solidFill>
              <a:srgbClr val="D2F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34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be right. But being right is not enough — we have to look like the kind of organisation that would be right.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06640" y="2697480"/>
            <a:ext cx="4114800" cy="3154680"/>
          </a:xfrm>
          <a:prstGeom prst="roundRect">
            <a:avLst>
              <a:gd name="adj" fmla="val 1739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Wrong, right 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URA’s own website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266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superseded PAYE bands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2668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Uganda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VAT threshold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4928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Thornton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26680" y="5202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that expired in 2020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Selah appears 71 times in the Psalms and 3 times in Habakkuk.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pause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musical or literary instruction: stop here, and weigh what has just been said. The dominant reading.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 lift up”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probable Hebrew root salah. To raise, to elevate. What happens after the pause.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the company. Every founding story here is a failure to pause.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0A0F0D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377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never overclaim it. The scholars disagree — and we say so. If we will be honest about our own name, a Ugandan business owner might believe us about their tax.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caesura. In music and in verse, the double bar means: stop here.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52369" y="2194560"/>
            <a:ext cx="234544" cy="1234440"/>
          </a:xfrm>
          <a:prstGeom prst="roundRect">
            <a:avLst>
              <a:gd name="adj" fmla="val 7797"/>
            </a:avLst>
          </a:prstGeom>
          <a:solidFill>
            <a:srgbClr val="00A37A"/>
          </a:solidFill>
          <a:ln/>
        </p:spPr>
      </p:sp>
      <p:sp>
        <p:nvSpPr>
          <p:cNvPr id="6" name="Shape 4"/>
          <p:cNvSpPr/>
          <p:nvPr/>
        </p:nvSpPr>
        <p:spPr>
          <a:xfrm>
            <a:off x="3396767" y="2194560"/>
            <a:ext cx="234544" cy="1234440"/>
          </a:xfrm>
          <a:prstGeom prst="roundRect">
            <a:avLst>
              <a:gd name="adj" fmla="val 7797"/>
            </a:avLst>
          </a:prstGeom>
          <a:solidFill>
            <a:srgbClr val="00A3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5270" y="2487168"/>
            <a:ext cx="156362" cy="822960"/>
          </a:xfrm>
          <a:prstGeom prst="roundRect">
            <a:avLst>
              <a:gd name="adj" fmla="val 11696"/>
            </a:avLst>
          </a:prstGeom>
          <a:solidFill>
            <a:srgbClr val="00A37A"/>
          </a:solidFill>
          <a:ln/>
        </p:spPr>
      </p:sp>
      <p:sp>
        <p:nvSpPr>
          <p:cNvPr id="10" name="Shape 8"/>
          <p:cNvSpPr/>
          <p:nvPr/>
        </p:nvSpPr>
        <p:spPr>
          <a:xfrm>
            <a:off x="8171536" y="2487168"/>
            <a:ext cx="156362" cy="822960"/>
          </a:xfrm>
          <a:prstGeom prst="roundRect">
            <a:avLst>
              <a:gd name="adj" fmla="val 11696"/>
            </a:avLst>
          </a:prstGeom>
          <a:solidFill>
            <a:srgbClr val="00A37A"/>
          </a:solidFill>
          <a:ln/>
        </p:spPr>
      </p:sp>
      <p:sp>
        <p:nvSpPr>
          <p:cNvPr id="11" name="Text 9"/>
          <p:cNvSpPr/>
          <p:nvPr/>
        </p:nvSpPr>
        <p:spPr>
          <a:xfrm>
            <a:off x="8474202" y="240487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Selah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46177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Grotesk, weight 500. Sentence case. Tracking −0.015em.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56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50566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All-caps. Letterspaced. Serif. Heavier than 500.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495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549554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mark’s height, on all four sides.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34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593445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100px wide. Mark alone 16px.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— ink and surface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Near-black with a whisper of green. Crisp white, never cream.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0A0F0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0A0F0D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900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3D464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3D4642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700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6B757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6B7570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500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C4CBC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C4CBC7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0684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300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F7F9F8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background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4114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EFF2F1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EFF2F1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5440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fill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114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FFFFFF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5440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06840" y="411480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E2E7E5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5029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E2E7E5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06840" y="5440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06840" y="5687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1px hairline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— the one accent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00A37A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00543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00543F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007A5C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007A5C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87168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00A37A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00A37A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34256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 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16BE90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16BE90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81344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8432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D2F2E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D2F2E8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8432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1645920" cy="1463040"/>
          </a:xfrm>
          <a:prstGeom prst="roundRect">
            <a:avLst>
              <a:gd name="adj" fmla="val 3125"/>
            </a:avLst>
          </a:prstGeom>
          <a:solidFill>
            <a:srgbClr val="ECFAF5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524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ECFAF5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0A0F0D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51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B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does three jobs.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brand.   ·   “Verified” — Confidence A.   ·   Money owed to you.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 doing three jobs is discipline, not poverty. When a user sees emerald, they already know: Selah checked this, and it is good news.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signals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back, so that they mean something.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063240"/>
          </a:xfrm>
          <a:prstGeom prst="roundRect">
            <a:avLst>
              <a:gd name="adj" fmla="val 1791"/>
            </a:avLst>
          </a:prstGeom>
          <a:solidFill>
            <a:srgbClr val="FEF7E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2130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D97706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 or C.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conflict with an official source.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approaching deadline.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3063240"/>
          </a:xfrm>
          <a:prstGeom prst="roundRect">
            <a:avLst>
              <a:gd name="adj" fmla="val 1791"/>
            </a:avLst>
          </a:prstGeom>
          <a:solidFill>
            <a:srgbClr val="FE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031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2130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DC2626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F — a refusal.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Arrears.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you owe.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gradients. No decorative colour. No fifth hue — if you are reaching for one, the design is wrong.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 and JetBrains Mono. No serif, anywhere.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Everything. Wordmark, headlines, body, UI.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grotesque with engineered character — it reads made.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834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number. Without exception.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IBM Plex Mono, any tabular mono.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736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40 · Title 24 · Heading 18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15 · Small 13 · Caption 11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below 11px.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5720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4736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9432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and 500. Only.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9432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600. Never 700.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shouts, and we do not shout.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45720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4736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02752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case, always.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comes from colour,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and scale — not weight.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 has personality — and personality is a liability at 11px in a dense tax table. Test it there before launch.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B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rule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monospaced,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tabular, and right-aligned.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335,001 – 410,000 @ 20%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0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410,001 – 485,000 @ 25%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390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18,750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379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485,001 – 1,000,000 @ 30%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154,500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55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4855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188,250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32461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tax computation in a proportional font and it reads like a blog post.</a:t>
            </a: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in mono and it reads like a fact.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B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costs one CSS rule. It is the cheapest credibility in the entire brand.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brand. Everything else is preparation for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D2F2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primary law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4680" y="1975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to display.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EFF2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corroborated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660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with the verified date.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FDEBC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uncertain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3346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display a number. Route to a human.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FBD9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unknown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REFUSE. Show the refusal card.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 stamp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11 jul 2026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undated tax claim is a liability.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47472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F7F9F8"/>
          </a:solidFill>
          <a:ln w="12700">
            <a:solidFill>
              <a:srgbClr val="E2E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citation block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4005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 (Amendment) Act 2026, Sch. 4 Pt I.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Gazette No. 33, Vol. CXIX.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law. Never a blog.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0A0F0D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681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quietly override an official source. We show the conflict — and let the user decide.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 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persuasive screen in the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6751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BD9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unknown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calculate this,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will not guess.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Act replaced all of Schedule 4 Part I with a resident-only table. No non-resident bands follow it. We read the gazetted Bill twice, from two independent copies. No source in Uganda publishes them.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requested the enacted Act from URA and are preparing a private ruling request.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competitor can copy our calculators in a weekend.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0" y="2834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copy a</a:t>
            </a:r>
            <a:endParaRPr lang="en-US" sz="20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card.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0" y="3840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publish one, you must have actually checked — and then been willing to say you don’t know.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competitor’s calculator returns a number here. Ours returns the truth.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Plain. Precise. Unhurried. The numbers persuade — we get out of the way.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EF0F0"/>
          </a:solidFill>
          <a:ln w="12700">
            <a:solidFill>
              <a:srgbClr val="FB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21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“Unlock massive tax savings!”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212080" cy="804672"/>
          </a:xfrm>
          <a:prstGeom prst="roundRect">
            <a:avLst>
              <a:gd name="adj" fmla="val 6818"/>
            </a:avLst>
          </a:prstGeom>
          <a:solidFill>
            <a:srgbClr val="ECFAF5"/>
          </a:solidFill>
          <a:ln w="12700">
            <a:solidFill>
              <a:srgbClr val="D2F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2199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may not have owed the tax you paid. Here’s how to check.”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EF0F0"/>
          </a:solidFill>
          <a:ln w="12700">
            <a:solidFill>
              <a:srgbClr val="FB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“Easily manage your compliance.”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63240"/>
            <a:ext cx="5212080" cy="804672"/>
          </a:xfrm>
          <a:prstGeom prst="roundRect">
            <a:avLst>
              <a:gd name="adj" fmla="val 6818"/>
            </a:avLst>
          </a:prstGeom>
          <a:solidFill>
            <a:srgbClr val="ECFAF5"/>
          </a:solidFill>
          <a:ln w="12700">
            <a:solidFill>
              <a:srgbClr val="D2F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1821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“URA is holding UGX 3,600,000 that belongs to you. You hold 4 of 11 certificates.”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EF0F0"/>
          </a:solidFill>
          <a:ln w="12700">
            <a:solidFill>
              <a:srgbClr val="FB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422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“Our AI-powered engine…”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212080" cy="804672"/>
          </a:xfrm>
          <a:prstGeom prst="roundRect">
            <a:avLst>
              <a:gd name="adj" fmla="val 6818"/>
            </a:avLst>
          </a:prstGeom>
          <a:solidFill>
            <a:srgbClr val="ECFAF5"/>
          </a:solidFill>
          <a:ln w="12700">
            <a:solidFill>
              <a:srgbClr val="D2F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42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read the gazetted Act. URA’s website hasn’t been updated yet.”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EF0F0"/>
          </a:solidFill>
          <a:ln w="12700">
            <a:solidFill>
              <a:srgbClr val="FB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023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“Consult a professional.”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983480"/>
            <a:ext cx="5212080" cy="804672"/>
          </a:xfrm>
          <a:prstGeom prst="roundRect">
            <a:avLst>
              <a:gd name="adj" fmla="val 6818"/>
            </a:avLst>
          </a:prstGeom>
          <a:solidFill>
            <a:srgbClr val="ECFAF5"/>
          </a:solidFill>
          <a:ln w="12700">
            <a:solidFill>
              <a:srgbClr val="D2F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51023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5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haven’t seen your contracts. Ask your adviser whether this applies to you.”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case. No exclamation marks, ever. Never “simply”, “just” or “easy” — they condescend, and tax is not easy.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brand forbids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down so it cannot be quietly abandoned when someone wants a growth spurt.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without a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without a date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this.” We give options, never orders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907792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Quietly overriding an official source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730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Compute-and-disclaim — if we don’t know, we refuse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712464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3730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exclamation mark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535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testimonial where a citation belongs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4517136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A81F1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5354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growth tactic that costs a shred of what we sell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0543F"/>
          </a:solidFill>
          <a:ln w="12700">
            <a:solidFill>
              <a:srgbClr val="0054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733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selling the belief that we checked. Nothing is worth spending that on.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8591" y="2331720"/>
            <a:ext cx="217170" cy="1143000"/>
          </a:xfrm>
          <a:prstGeom prst="roundRect">
            <a:avLst>
              <a:gd name="adj" fmla="val 8421"/>
            </a:avLst>
          </a:prstGeom>
          <a:solidFill>
            <a:srgbClr val="00A37A"/>
          </a:solidFill>
          <a:ln/>
        </p:spPr>
      </p:sp>
      <p:sp>
        <p:nvSpPr>
          <p:cNvPr id="3" name="Shape 1"/>
          <p:cNvSpPr/>
          <p:nvPr/>
        </p:nvSpPr>
        <p:spPr>
          <a:xfrm>
            <a:off x="5140071" y="2331720"/>
            <a:ext cx="217170" cy="1143000"/>
          </a:xfrm>
          <a:prstGeom prst="roundRect">
            <a:avLst>
              <a:gd name="adj" fmla="val 8421"/>
            </a:avLst>
          </a:prstGeom>
          <a:solidFill>
            <a:srgbClr val="00A37A"/>
          </a:solidFill>
          <a:ln/>
        </p:spPr>
      </p:sp>
      <p:sp>
        <p:nvSpPr>
          <p:cNvPr id="4" name="Text 2"/>
          <p:cNvSpPr/>
          <p:nvPr/>
        </p:nvSpPr>
        <p:spPr>
          <a:xfrm>
            <a:off x="5558409" y="22402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D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— and know where you stand.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349240" y="4663440"/>
            <a:ext cx="1463040" cy="0"/>
          </a:xfrm>
          <a:prstGeom prst="line">
            <a:avLst/>
          </a:prstGeom>
          <a:noFill/>
          <a:ln w="12700">
            <a:solidFill>
              <a:srgbClr val="E2E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selah-tokens.css   ·   selah-logo-primary.svg   ·   selah-logo-mark.svg   ·   selah-logo-reversed.svg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Selah — Brand Guidelines v2</dc:title>
  <dc:subject>PptxGenJS Presentation</dc:subject>
  <dc:creator>Selah</dc:creator>
  <cp:lastModifiedBy>Selah</cp:lastModifiedBy>
  <cp:revision>1</cp:revision>
  <dcterms:created xsi:type="dcterms:W3CDTF">2026-07-11T11:55:51Z</dcterms:created>
  <dcterms:modified xsi:type="dcterms:W3CDTF">2026-07-11T11:55:51Z</dcterms:modified>
</cp:coreProperties>
</file>